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834640"/>
            <a:ext cx="1097280" cy="7315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FFFFFF"/>
                </a:solidFill>
              </a:defRPr>
            </a:pPr>
            <a:r>
              <a:t>Brightline for Acme 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C9D1E0"/>
                </a:solidFill>
              </a:defRPr>
            </a:pPr>
            <a:r>
              <a:t>Fraud and lending platforms we have shipped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8A94A8"/>
                </a:solidFill>
              </a:defRPr>
            </a:pPr>
            <a:r>
              <a:t>Brightline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F6FEB"/>
                </a:solidFill>
              </a:defRPr>
            </a:pPr>
            <a:r>
              <a:t>Ledgerline Payments  ·  FinTech / Payments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1B2D"/>
                </a:solidFill>
              </a:defRPr>
            </a:pPr>
            <a:r>
              <a:t>Streaming fraud scoring that cut chargebacks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5B6476"/>
                </a:solidFill>
              </a:defRPr>
            </a:pPr>
            <a: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41B2D"/>
                </a:solidFill>
              </a:defRPr>
            </a:pPr>
            <a:r>
              <a:t>A rules engine flagged too many good payments and missed new attacks.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5B6476"/>
                </a:solidFill>
              </a:defRPr>
            </a:pPr>
            <a:r>
              <a:t>What we delivered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634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1B2D"/>
                </a:solidFill>
              </a:defRPr>
            </a:pPr>
            <a:r>
              <a:t>•  Kafka streaming pipeline</a:t>
            </a:r>
          </a:p>
          <a:p>
            <a:pPr>
              <a:spcAft>
                <a:spcPts val="800"/>
              </a:spcAft>
              <a:defRPr sz="1400" b="0">
                <a:solidFill>
                  <a:srgbClr val="141B2D"/>
                </a:solidFill>
              </a:defRPr>
            </a:pPr>
            <a:r>
              <a:t>•  Gradient-boosted scoring model</a:t>
            </a:r>
          </a:p>
          <a:p>
            <a:pPr>
              <a:spcAft>
                <a:spcPts val="800"/>
              </a:spcAft>
              <a:defRPr sz="1400" b="0">
                <a:solidFill>
                  <a:srgbClr val="141B2D"/>
                </a:solidFill>
              </a:defRPr>
            </a:pPr>
            <a:r>
              <a:t>•  Analyst review tool with weekly retraining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828800"/>
            <a:ext cx="5212080" cy="13716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9659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F6FEB"/>
                </a:solidFill>
              </a:defRPr>
            </a:pPr>
            <a:r>
              <a:t>38%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651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B6476"/>
                </a:solidFill>
              </a:defRPr>
            </a:pPr>
            <a:r>
              <a:t>fewer chargebacks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3429000"/>
            <a:ext cx="5212080" cy="13716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35661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F6FEB"/>
                </a:solidFill>
              </a:defRPr>
            </a:pPr>
            <a:r>
              <a:t>42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42519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B6476"/>
                </a:solidFill>
              </a:defRPr>
            </a:pPr>
            <a:r>
              <a:t>p99 scoring latency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5029200"/>
            <a:ext cx="5212080" cy="13716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51663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F6FEB"/>
                </a:solidFill>
              </a:defRPr>
            </a:pPr>
            <a:r>
              <a:t>11,000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5852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B6476"/>
                </a:solidFill>
              </a:defRPr>
            </a:pPr>
            <a:r>
              <a:t>weekly alerts, down from 40,000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F6FEB"/>
                </a:solidFill>
              </a:defRPr>
            </a:pPr>
            <a:r>
              <a:t>Harborview Lending  ·  FinTech / Lending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1B2D"/>
                </a:solidFill>
              </a:defRPr>
            </a:pPr>
            <a:r>
              <a:t>A custom loan platform that replaced a vendor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5B6476"/>
                </a:solidFill>
              </a:defRPr>
            </a:pPr>
            <a: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41B2D"/>
                </a:solidFill>
              </a:defRPr>
            </a:pPr>
            <a:r>
              <a:t>Expensive vendor licensing and manual re-keying of borrower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5B6476"/>
                </a:solidFill>
              </a:defRPr>
            </a:pPr>
            <a:r>
              <a:t>What we delivered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634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41B2D"/>
                </a:solidFill>
              </a:defRPr>
            </a:pPr>
            <a:r>
              <a:t>•  Temporal loan workflows</a:t>
            </a:r>
          </a:p>
          <a:p>
            <a:pPr>
              <a:spcAft>
                <a:spcPts val="800"/>
              </a:spcAft>
              <a:defRPr sz="1400" b="0">
                <a:solidFill>
                  <a:srgbClr val="141B2D"/>
                </a:solidFill>
              </a:defRPr>
            </a:pPr>
            <a:r>
              <a:t>•  Direct credit bureau integrations</a:t>
            </a:r>
          </a:p>
          <a:p>
            <a:pPr>
              <a:spcAft>
                <a:spcPts val="800"/>
              </a:spcAft>
              <a:defRPr sz="1400" b="0">
                <a:solidFill>
                  <a:srgbClr val="141B2D"/>
                </a:solidFill>
              </a:defRPr>
            </a:pPr>
            <a:r>
              <a:t>•  Admin console for underwriting steps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828800"/>
            <a:ext cx="5212080" cy="13716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9659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F6FEB"/>
                </a:solidFill>
              </a:defRPr>
            </a:pPr>
            <a:r>
              <a:t>45%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651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B6476"/>
                </a:solidFill>
              </a:defRPr>
            </a:pPr>
            <a:r>
              <a:t>lower annual platform cost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3429000"/>
            <a:ext cx="5212080" cy="13716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35661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F6FEB"/>
                </a:solidFill>
              </a:defRPr>
            </a:pPr>
            <a:r>
              <a:t>3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42519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B6476"/>
                </a:solidFill>
              </a:defRPr>
            </a:pPr>
            <a:r>
              <a:t>to decision, down from 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5029200"/>
            <a:ext cx="5212080" cy="13716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51663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F6FEB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5852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B6476"/>
                </a:solidFill>
              </a:defRPr>
            </a:pPr>
            <a:r>
              <a:t>systems with no manual re-entry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1B2D"/>
                </a:solidFill>
              </a:defRPr>
            </a:pPr>
            <a: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41B2D"/>
                </a:solidFill>
              </a:defRPr>
            </a:pPr>
            <a:r>
              <a:t>Real-Time Fraud Scoring for a Payments Processor  ·  https://example.com/cases/ledgerline-fraud-scoring</a:t>
            </a:r>
          </a:p>
          <a:p>
            <a:pPr>
              <a:spcAft>
                <a:spcPts val="800"/>
              </a:spcAft>
              <a:defRPr sz="1600" b="0">
                <a:solidFill>
                  <a:srgbClr val="141B2D"/>
                </a:solidFill>
              </a:defRPr>
            </a:pPr>
            <a:r>
              <a:t>Loan Origination Platform Rebuild for a Digital Lender  ·  https://example.com/cases/harborview-loan-origination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